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179BC-F6C1-7444-9E45-0594C65BDF88}" v="1" dt="2026-04-12T18:22:32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09"/>
  </p:normalViewPr>
  <p:slideViewPr>
    <p:cSldViewPr snapToGrid="0" snapToObjects="1">
      <p:cViewPr varScale="1">
        <p:scale>
          <a:sx n="88" d="100"/>
          <a:sy n="88" d="100"/>
        </p:scale>
        <p:origin x="200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chsteiner, Filipp" userId="a814f1a1-47ef-4e3b-9f29-dd9a665918ab" providerId="ADAL" clId="{6815736E-9E4D-5A76-94F3-56E515295254}"/>
    <pc:docChg chg="undo custSel delSld modSld">
      <pc:chgData name="Rechsteiner, Filipp" userId="a814f1a1-47ef-4e3b-9f29-dd9a665918ab" providerId="ADAL" clId="{6815736E-9E4D-5A76-94F3-56E515295254}" dt="2026-04-12T19:19:01.396" v="102" actId="20577"/>
      <pc:docMkLst>
        <pc:docMk/>
      </pc:docMkLst>
      <pc:sldChg chg="modSp mod">
        <pc:chgData name="Rechsteiner, Filipp" userId="a814f1a1-47ef-4e3b-9f29-dd9a665918ab" providerId="ADAL" clId="{6815736E-9E4D-5A76-94F3-56E515295254}" dt="2026-04-12T18:08:29.731" v="0" actId="20577"/>
        <pc:sldMkLst>
          <pc:docMk/>
          <pc:sldMk cId="0" sldId="256"/>
        </pc:sldMkLst>
        <pc:spChg chg="mod">
          <ac:chgData name="Rechsteiner, Filipp" userId="a814f1a1-47ef-4e3b-9f29-dd9a665918ab" providerId="ADAL" clId="{6815736E-9E4D-5A76-94F3-56E515295254}" dt="2026-04-12T18:08:29.731" v="0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Rechsteiner, Filipp" userId="a814f1a1-47ef-4e3b-9f29-dd9a665918ab" providerId="ADAL" clId="{6815736E-9E4D-5A76-94F3-56E515295254}" dt="2026-04-12T18:09:44.258" v="7" actId="20577"/>
        <pc:sldMkLst>
          <pc:docMk/>
          <pc:sldMk cId="0" sldId="257"/>
        </pc:sldMkLst>
        <pc:spChg chg="mod">
          <ac:chgData name="Rechsteiner, Filipp" userId="a814f1a1-47ef-4e3b-9f29-dd9a665918ab" providerId="ADAL" clId="{6815736E-9E4D-5A76-94F3-56E515295254}" dt="2026-04-12T18:09:44.258" v="7" actId="20577"/>
          <ac:spMkLst>
            <pc:docMk/>
            <pc:sldMk cId="0" sldId="257"/>
            <ac:spMk id="5" creationId="{00000000-0000-0000-0000-000000000000}"/>
          </ac:spMkLst>
        </pc:spChg>
      </pc:sldChg>
      <pc:sldChg chg="del">
        <pc:chgData name="Rechsteiner, Filipp" userId="a814f1a1-47ef-4e3b-9f29-dd9a665918ab" providerId="ADAL" clId="{6815736E-9E4D-5A76-94F3-56E515295254}" dt="2026-04-12T18:10:21.079" v="8" actId="2696"/>
        <pc:sldMkLst>
          <pc:docMk/>
          <pc:sldMk cId="0" sldId="258"/>
        </pc:sldMkLst>
      </pc:sldChg>
      <pc:sldChg chg="modSp mod">
        <pc:chgData name="Rechsteiner, Filipp" userId="a814f1a1-47ef-4e3b-9f29-dd9a665918ab" providerId="ADAL" clId="{6815736E-9E4D-5A76-94F3-56E515295254}" dt="2026-04-12T18:22:38.030" v="31" actId="20577"/>
        <pc:sldMkLst>
          <pc:docMk/>
          <pc:sldMk cId="0" sldId="259"/>
        </pc:sldMkLst>
        <pc:spChg chg="mod">
          <ac:chgData name="Rechsteiner, Filipp" userId="a814f1a1-47ef-4e3b-9f29-dd9a665918ab" providerId="ADAL" clId="{6815736E-9E4D-5A76-94F3-56E515295254}" dt="2026-04-12T18:22:38.030" v="31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Rechsteiner, Filipp" userId="a814f1a1-47ef-4e3b-9f29-dd9a665918ab" providerId="ADAL" clId="{6815736E-9E4D-5A76-94F3-56E515295254}" dt="2026-04-12T18:28:34.206" v="39" actId="20577"/>
        <pc:sldMkLst>
          <pc:docMk/>
          <pc:sldMk cId="0" sldId="261"/>
        </pc:sldMkLst>
        <pc:spChg chg="mod">
          <ac:chgData name="Rechsteiner, Filipp" userId="a814f1a1-47ef-4e3b-9f29-dd9a665918ab" providerId="ADAL" clId="{6815736E-9E4D-5A76-94F3-56E515295254}" dt="2026-04-12T18:28:34.206" v="39" actId="20577"/>
          <ac:spMkLst>
            <pc:docMk/>
            <pc:sldMk cId="0" sldId="261"/>
            <ac:spMk id="6" creationId="{00000000-0000-0000-0000-000000000000}"/>
          </ac:spMkLst>
        </pc:spChg>
      </pc:sldChg>
      <pc:sldChg chg="delSp modSp mod">
        <pc:chgData name="Rechsteiner, Filipp" userId="a814f1a1-47ef-4e3b-9f29-dd9a665918ab" providerId="ADAL" clId="{6815736E-9E4D-5A76-94F3-56E515295254}" dt="2026-04-12T18:24:30.609" v="33" actId="478"/>
        <pc:sldMkLst>
          <pc:docMk/>
          <pc:sldMk cId="0" sldId="262"/>
        </pc:sldMkLst>
        <pc:spChg chg="del mod">
          <ac:chgData name="Rechsteiner, Filipp" userId="a814f1a1-47ef-4e3b-9f29-dd9a665918ab" providerId="ADAL" clId="{6815736E-9E4D-5A76-94F3-56E515295254}" dt="2026-04-12T18:24:30.609" v="33" actId="478"/>
          <ac:spMkLst>
            <pc:docMk/>
            <pc:sldMk cId="0" sldId="262"/>
            <ac:spMk id="42" creationId="{00000000-0000-0000-0000-000000000000}"/>
          </ac:spMkLst>
        </pc:spChg>
      </pc:sldChg>
      <pc:sldChg chg="modSp mod">
        <pc:chgData name="Rechsteiner, Filipp" userId="a814f1a1-47ef-4e3b-9f29-dd9a665918ab" providerId="ADAL" clId="{6815736E-9E4D-5A76-94F3-56E515295254}" dt="2026-04-12T19:13:47.339" v="42" actId="20577"/>
        <pc:sldMkLst>
          <pc:docMk/>
          <pc:sldMk cId="0" sldId="263"/>
        </pc:sldMkLst>
        <pc:spChg chg="mod">
          <ac:chgData name="Rechsteiner, Filipp" userId="a814f1a1-47ef-4e3b-9f29-dd9a665918ab" providerId="ADAL" clId="{6815736E-9E4D-5A76-94F3-56E515295254}" dt="2026-04-12T19:13:47.339" v="42" actId="20577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Rechsteiner, Filipp" userId="a814f1a1-47ef-4e3b-9f29-dd9a665918ab" providerId="ADAL" clId="{6815736E-9E4D-5A76-94F3-56E515295254}" dt="2026-04-12T19:19:01.396" v="102" actId="20577"/>
        <pc:sldMkLst>
          <pc:docMk/>
          <pc:sldMk cId="0" sldId="264"/>
        </pc:sldMkLst>
        <pc:spChg chg="mod">
          <ac:chgData name="Rechsteiner, Filipp" userId="a814f1a1-47ef-4e3b-9f29-dd9a665918ab" providerId="ADAL" clId="{6815736E-9E4D-5A76-94F3-56E515295254}" dt="2026-04-12T18:26:11.731" v="34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Rechsteiner, Filipp" userId="a814f1a1-47ef-4e3b-9f29-dd9a665918ab" providerId="ADAL" clId="{6815736E-9E4D-5A76-94F3-56E515295254}" dt="2026-04-12T19:16:12.645" v="46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Rechsteiner, Filipp" userId="a814f1a1-47ef-4e3b-9f29-dd9a665918ab" providerId="ADAL" clId="{6815736E-9E4D-5A76-94F3-56E515295254}" dt="2026-04-12T19:17:06.582" v="86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Rechsteiner, Filipp" userId="a814f1a1-47ef-4e3b-9f29-dd9a665918ab" providerId="ADAL" clId="{6815736E-9E4D-5A76-94F3-56E515295254}" dt="2026-04-12T19:17:17.883" v="88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Rechsteiner, Filipp" userId="a814f1a1-47ef-4e3b-9f29-dd9a665918ab" providerId="ADAL" clId="{6815736E-9E4D-5A76-94F3-56E515295254}" dt="2026-04-12T19:17:48.263" v="90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Rechsteiner, Filipp" userId="a814f1a1-47ef-4e3b-9f29-dd9a665918ab" providerId="ADAL" clId="{6815736E-9E4D-5A76-94F3-56E515295254}" dt="2026-04-12T19:17:54.998" v="91" actId="2057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Rechsteiner, Filipp" userId="a814f1a1-47ef-4e3b-9f29-dd9a665918ab" providerId="ADAL" clId="{6815736E-9E4D-5A76-94F3-56E515295254}" dt="2026-04-12T19:18:14.965" v="92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Rechsteiner, Filipp" userId="a814f1a1-47ef-4e3b-9f29-dd9a665918ab" providerId="ADAL" clId="{6815736E-9E4D-5A76-94F3-56E515295254}" dt="2026-04-12T19:18:26.296" v="95" actId="20577"/>
          <ac:spMkLst>
            <pc:docMk/>
            <pc:sldMk cId="0" sldId="264"/>
            <ac:spMk id="19" creationId="{00000000-0000-0000-0000-000000000000}"/>
          </ac:spMkLst>
        </pc:spChg>
        <pc:spChg chg="mod">
          <ac:chgData name="Rechsteiner, Filipp" userId="a814f1a1-47ef-4e3b-9f29-dd9a665918ab" providerId="ADAL" clId="{6815736E-9E4D-5A76-94F3-56E515295254}" dt="2026-04-12T19:18:36.174" v="98" actId="20577"/>
          <ac:spMkLst>
            <pc:docMk/>
            <pc:sldMk cId="0" sldId="264"/>
            <ac:spMk id="21" creationId="{00000000-0000-0000-0000-000000000000}"/>
          </ac:spMkLst>
        </pc:spChg>
        <pc:spChg chg="mod">
          <ac:chgData name="Rechsteiner, Filipp" userId="a814f1a1-47ef-4e3b-9f29-dd9a665918ab" providerId="ADAL" clId="{6815736E-9E4D-5A76-94F3-56E515295254}" dt="2026-04-12T19:19:01.396" v="102" actId="20577"/>
          <ac:spMkLst>
            <pc:docMk/>
            <pc:sldMk cId="0" sldId="264"/>
            <ac:spMk id="2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200" b="1">
                <a:solidFill>
                  <a:srgbClr val="818CF8"/>
                </a:solidFill>
                <a:latin typeface="Calibri"/>
              </a:defRPr>
            </a:pPr>
            <a:r>
              <a:t>PikoGPT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9169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A5A5C0"/>
                </a:solidFill>
                <a:latin typeface="Calibri"/>
              </a:defRPr>
            </a:pPr>
            <a:r>
              <a:t>A Small Language Model — Built from Scratch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402336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1C1C30"/>
          </a:solidFill>
          <a:ln w="12700">
            <a:solidFill>
              <a:srgbClr val="404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0" y="4041648"/>
            <a:ext cx="2651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TEAM FUNKYAI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B6B8A"/>
                </a:solidFill>
                <a:latin typeface="Calibri"/>
              </a:defRPr>
            </a:pPr>
            <a:r>
              <a:rPr dirty="0"/>
              <a:t>NLP ·  University of St. Gallen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A5A5C0"/>
                </a:solidFill>
                <a:latin typeface="Calibri"/>
              </a:defRPr>
            </a:pPr>
            <a:r>
              <a:t>Filipp  ·  Arabella  ·  Roman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B6B8A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818CF8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10025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A78BFA"/>
                </a:solidFill>
                <a:latin typeface="Calibri"/>
              </a:rPr>
              <a:t>01   </a:t>
            </a:r>
            <a:r>
              <a:rPr sz="2000" dirty="0">
                <a:solidFill>
                  <a:srgbClr val="E8E8F0"/>
                </a:solidFill>
                <a:latin typeface="Calibri"/>
              </a:rPr>
              <a:t>Project </a:t>
            </a:r>
            <a:r>
              <a:rPr lang="de-CH" sz="2000" dirty="0" err="1">
                <a:solidFill>
                  <a:srgbClr val="E8E8F0"/>
                </a:solidFill>
                <a:latin typeface="Calibri"/>
              </a:rPr>
              <a:t>details</a:t>
            </a:r>
            <a:endParaRPr sz="2000" dirty="0">
              <a:solidFill>
                <a:srgbClr val="E8E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78BFA"/>
                </a:solidFill>
                <a:latin typeface="Calibri"/>
              </a:rPr>
              <a:t>02   </a:t>
            </a:r>
            <a:r>
              <a:rPr sz="2000">
                <a:solidFill>
                  <a:srgbClr val="E8E8F0"/>
                </a:solidFill>
                <a:latin typeface="Calibri"/>
              </a:rPr>
              <a:t>Team &amp; Responsibilities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2608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78BFA"/>
                </a:solidFill>
                <a:latin typeface="Calibri"/>
              </a:rPr>
              <a:t>03   </a:t>
            </a:r>
            <a:r>
              <a:rPr sz="2000">
                <a:solidFill>
                  <a:srgbClr val="E8E8F0"/>
                </a:solidFill>
                <a:latin typeface="Calibri"/>
              </a:rPr>
              <a:t>Data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566159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59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78BFA"/>
                </a:solidFill>
                <a:latin typeface="Calibri"/>
              </a:rPr>
              <a:t>04   </a:t>
            </a:r>
            <a:r>
              <a:rPr sz="2000">
                <a:solidFill>
                  <a:srgbClr val="E8E8F0"/>
                </a:solidFill>
                <a:latin typeface="Calibri"/>
              </a:rPr>
              <a:t>Model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0624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78BFA"/>
                </a:solidFill>
                <a:latin typeface="Calibri"/>
              </a:rPr>
              <a:t>05   </a:t>
            </a:r>
            <a:r>
              <a:rPr sz="2000">
                <a:solidFill>
                  <a:srgbClr val="E8E8F0"/>
                </a:solidFill>
                <a:latin typeface="Calibri"/>
              </a:rPr>
              <a:t>Model Configurations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6459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78BFA"/>
                </a:solidFill>
                <a:latin typeface="Calibri"/>
              </a:rPr>
              <a:t>06   </a:t>
            </a:r>
            <a:r>
              <a:rPr sz="2000">
                <a:solidFill>
                  <a:srgbClr val="E8E8F0"/>
                </a:solidFill>
                <a:latin typeface="Calibri"/>
              </a:rPr>
              <a:t>Training &amp; Optimization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78BFA"/>
                </a:solidFill>
                <a:latin typeface="Calibri"/>
              </a:rPr>
              <a:t>07   </a:t>
            </a:r>
            <a:r>
              <a:rPr sz="2000">
                <a:solidFill>
                  <a:srgbClr val="E8E8F0"/>
                </a:solidFill>
                <a:latin typeface="Calibri"/>
              </a:rPr>
              <a:t>Hyperparameter Tuning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2608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9260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78BFA"/>
                </a:solidFill>
                <a:latin typeface="Calibri"/>
              </a:rPr>
              <a:t>08   </a:t>
            </a:r>
            <a:r>
              <a:rPr sz="2000">
                <a:solidFill>
                  <a:srgbClr val="E8E8F0"/>
                </a:solidFill>
                <a:latin typeface="Calibri"/>
              </a:rPr>
              <a:t>Inference &amp; Text Generation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566159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59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78BFA"/>
                </a:solidFill>
                <a:latin typeface="Calibri"/>
              </a:rPr>
              <a:t>09   </a:t>
            </a:r>
            <a:r>
              <a:rPr sz="2000">
                <a:solidFill>
                  <a:srgbClr val="E8E8F0"/>
                </a:solidFill>
                <a:latin typeface="Calibri"/>
              </a:rPr>
              <a:t>Technology Stack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20624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2062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78BFA"/>
                </a:solidFill>
                <a:latin typeface="Calibri"/>
              </a:rPr>
              <a:t>10   </a:t>
            </a:r>
            <a:r>
              <a:rPr sz="2000">
                <a:solidFill>
                  <a:srgbClr val="E8E8F0"/>
                </a:solidFill>
                <a:latin typeface="Calibri"/>
              </a:rPr>
              <a:t>Summary &amp; Outlook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B6B8A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818CF8"/>
                </a:solidFill>
                <a:latin typeface="Calibri"/>
              </a:defRPr>
            </a:pPr>
            <a:r>
              <a:t>Team FunkyAI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>
              <a:gd name="adj" fmla="val 4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E8F0"/>
                </a:solidFill>
                <a:latin typeface="Calibri"/>
              </a:defRPr>
            </a:pPr>
            <a:r>
              <a:t>Filipp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Data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dirty="0">
                <a:solidFill>
                  <a:srgbClr val="A5A5C0"/>
                </a:solidFill>
                <a:latin typeface="Calibri"/>
              </a:rPr>
              <a:t>▸ Data pipeline &amp; quality assurance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dirty="0">
                <a:solidFill>
                  <a:srgbClr val="A5A5C0"/>
                </a:solidFill>
                <a:latin typeface="Calibri"/>
              </a:rPr>
              <a:t>▸</a:t>
            </a:r>
            <a:r>
              <a:rPr lang="de-CH" sz="1400" dirty="0">
                <a:solidFill>
                  <a:srgbClr val="A5A5C0"/>
                </a:solidFill>
                <a:latin typeface="Calibri"/>
              </a:rPr>
              <a:t>Benchmarks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de-CH" sz="1400" dirty="0">
                <a:solidFill>
                  <a:srgbClr val="A5A5C0"/>
                </a:solidFill>
              </a:rPr>
              <a:t>▸Evaluation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endParaRPr sz="1400" dirty="0">
              <a:solidFill>
                <a:srgbClr val="A5A5C0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>
              <a:gd name="adj" fmla="val 4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E8F0"/>
                </a:solidFill>
                <a:latin typeface="Calibri"/>
              </a:defRPr>
            </a:pPr>
            <a:r>
              <a:t>Arabella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ML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A5A5C0"/>
                </a:solidFill>
                <a:latin typeface="Calibri"/>
              </a:rPr>
              <a:t>▸ Model architecture &amp; configuration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A5A5C0"/>
                </a:solidFill>
                <a:latin typeface="Calibri"/>
              </a:rPr>
              <a:t>▸ Hyperparameter tuning with Optuna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A5A5C0"/>
                </a:solidFill>
                <a:latin typeface="Calibri"/>
              </a:rPr>
              <a:t>▸ GPU training runs &amp; monitoring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A5A5C0"/>
                </a:solidFill>
                <a:latin typeface="Calibri"/>
              </a:rPr>
              <a:t>▸ Ablation studies &amp; model 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4389120"/>
          </a:xfrm>
          <a:prstGeom prst="roundRect">
            <a:avLst>
              <a:gd name="adj" fmla="val 4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E8F0"/>
                </a:solidFill>
                <a:latin typeface="Calibri"/>
              </a:defRPr>
            </a:pPr>
            <a:r>
              <a:t>Roman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Platform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175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A5A5C0"/>
                </a:solidFill>
                <a:latin typeface="Calibri"/>
              </a:rPr>
              <a:t>▸ Chat interface (Gradio / Streamlit)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A5A5C0"/>
                </a:solidFill>
                <a:latin typeface="Calibri"/>
              </a:rPr>
              <a:t>▸ Documentation &amp; README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A5A5C0"/>
                </a:solidFill>
                <a:latin typeface="Calibri"/>
              </a:rPr>
              <a:t>▸ Code quality &amp; testing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A5A5C0"/>
                </a:solidFill>
                <a:latin typeface="Calibri"/>
              </a:rPr>
              <a:t>▸ Infrastructure &amp; DevOps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B6B8A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818CF8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645920" cy="1097280"/>
          </a:xfrm>
          <a:prstGeom prst="roundRect">
            <a:avLst>
              <a:gd name="adj" fmla="val 8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E8E8F0"/>
                </a:solidFill>
                <a:latin typeface="Calibri"/>
              </a:defRPr>
            </a:pPr>
            <a:r>
              <a:t>📥 Stream</a:t>
            </a:r>
            <a:br/>
            <a:r>
              <a:t>OpenWebText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7373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6B6B8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463040"/>
            <a:ext cx="1645920" cy="1097280"/>
          </a:xfrm>
          <a:prstGeom prst="roundRect">
            <a:avLst>
              <a:gd name="adj" fmla="val 8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1554480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E8E8F0"/>
                </a:solidFill>
                <a:latin typeface="Calibri"/>
              </a:defRPr>
            </a:pPr>
            <a:r>
              <a:t>🌐 Language</a:t>
            </a:r>
            <a:br/>
            <a: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373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6B6B8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1645920" cy="1097280"/>
          </a:xfrm>
          <a:prstGeom prst="roundRect">
            <a:avLst>
              <a:gd name="adj" fmla="val 8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554480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E8E8F0"/>
                </a:solidFill>
                <a:latin typeface="Calibri"/>
              </a:defRPr>
            </a:pPr>
            <a:r>
              <a:t>🔒 Test Set</a:t>
            </a:r>
            <a:br/>
            <a:r>
              <a:t>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7373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6B6B8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1645920" cy="1097280"/>
          </a:xfrm>
          <a:prstGeom prst="roundRect">
            <a:avLst>
              <a:gd name="adj" fmla="val 8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E8E8F0"/>
                </a:solidFill>
                <a:latin typeface="Calibri"/>
              </a:defRPr>
            </a:pPr>
            <a:r>
              <a:t>🧹 Remove HTML</a:t>
            </a:r>
            <a:br/>
            <a:r>
              <a:t>URLs,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7373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6B6B8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1645920" cy="1097280"/>
          </a:xfrm>
          <a:prstGeom prst="roundRect">
            <a:avLst>
              <a:gd name="adj" fmla="val 8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E8E8F0"/>
                </a:solidFill>
                <a:latin typeface="Calibri"/>
              </a:defRPr>
            </a:pPr>
            <a:r>
              <a:t>✅ Quality</a:t>
            </a:r>
            <a:br/>
            <a:r>
              <a:t>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7373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6B6B8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463040"/>
            <a:ext cx="1645920" cy="1097280"/>
          </a:xfrm>
          <a:prstGeom prst="roundRect">
            <a:avLst>
              <a:gd name="adj" fmla="val 8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0" y="1554480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E8E8F0"/>
                </a:solidFill>
                <a:latin typeface="Calibri"/>
              </a:defRPr>
            </a:pPr>
            <a:r>
              <a:t>💾 Save</a:t>
            </a:r>
            <a:br/>
            <a:r>
              <a:t>Dataset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17520"/>
            <a:ext cx="5120640" cy="338328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2004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Preprocessing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65760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Language filter: </a:t>
            </a:r>
            <a:r>
              <a:rPr sz="1500">
                <a:solidFill>
                  <a:srgbClr val="E8E8F0"/>
                </a:solidFill>
                <a:latin typeface="Calibri"/>
              </a:rPr>
              <a:t>English-only texts (langdetect)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Data leakage protection: </a:t>
            </a:r>
            <a:r>
              <a:rPr sz="1500">
                <a:solidFill>
                  <a:srgbClr val="E8E8F0"/>
                </a:solidFill>
                <a:latin typeface="Calibri"/>
              </a:rPr>
              <a:t>MD5 hashing of all test sentences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HTML cleaning: </a:t>
            </a:r>
            <a:r>
              <a:rPr sz="1500">
                <a:solidFill>
                  <a:srgbClr val="E8E8F0"/>
                </a:solidFill>
                <a:latin typeface="Calibri"/>
              </a:rPr>
              <a:t>Remove tags and special characters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URL filtering: </a:t>
            </a:r>
            <a:r>
              <a:rPr sz="1500">
                <a:solidFill>
                  <a:srgbClr val="E8E8F0"/>
                </a:solidFill>
                <a:latin typeface="Calibri"/>
              </a:rPr>
              <a:t>Remove HTTP(S) and www links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Code blocks: </a:t>
            </a:r>
            <a:r>
              <a:rPr sz="1500">
                <a:solidFill>
                  <a:srgbClr val="E8E8F0"/>
                </a:solidFill>
                <a:latin typeface="Calibri"/>
              </a:rPr>
              <a:t>Remove markdown code blocks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Quality check: </a:t>
            </a:r>
            <a:r>
              <a:rPr sz="1500">
                <a:solidFill>
                  <a:srgbClr val="E8E8F0"/>
                </a:solidFill>
                <a:latin typeface="Calibri"/>
              </a:rPr>
              <a:t>Min. 100 chars, no corruption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17520"/>
            <a:ext cx="5212080" cy="338328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2004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Usage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749039"/>
            <a:ext cx="4663440" cy="1463040"/>
          </a:xfrm>
          <a:prstGeom prst="roundRect">
            <a:avLst>
              <a:gd name="adj" fmla="val 3000"/>
            </a:avLst>
          </a:prstGeom>
          <a:solidFill>
            <a:srgbClr val="0A0A18"/>
          </a:solidFill>
          <a:ln w="9525">
            <a:solidFill>
              <a:srgbClr val="252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840480"/>
            <a:ext cx="43891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4D399"/>
                </a:solidFill>
                <a:latin typeface="Consolas"/>
              </a:defRPr>
            </a:pPr>
            <a:r>
              <a:t># Run preprocessing</a:t>
            </a:r>
            <a:br/>
            <a:r>
              <a:t>python main.py \</a:t>
            </a:r>
            <a:br/>
            <a:r>
              <a:t>  --stage preprocess \</a:t>
            </a:r>
            <a:br/>
            <a:r>
              <a:t>  --num-samples 100000 \</a:t>
            </a:r>
            <a:br/>
            <a:r>
              <a:t>  --output-path "data/processed/openwebtext_clean"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B6B8A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818CF8"/>
                </a:solidFill>
                <a:latin typeface="Calibri"/>
              </a:defRPr>
            </a:pPr>
            <a: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CausalTransformerLM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5A5C0"/>
                </a:solidFill>
                <a:latin typeface="Calibri"/>
              </a:defRPr>
            </a:pPr>
            <a:r>
              <a:t>Decoder-only transformer with causal masking,</a:t>
            </a:r>
            <a:br/>
            <a:r>
              <a:t>based on PyTorch's nn.TransformerEncoder.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4864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dirty="0">
                <a:solidFill>
                  <a:srgbClr val="A78BFA"/>
                </a:solidFill>
                <a:latin typeface="Calibri"/>
              </a:rPr>
              <a:t>▸ Token Embedding</a:t>
            </a:r>
            <a:r>
              <a:rPr sz="1600" dirty="0">
                <a:solidFill>
                  <a:srgbClr val="E8E8F0"/>
                </a:solidFill>
                <a:latin typeface="Calibri"/>
              </a:rPr>
              <a:t> + learnable position embedding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dirty="0">
                <a:solidFill>
                  <a:srgbClr val="A78BFA"/>
                </a:solidFill>
                <a:latin typeface="Calibri"/>
              </a:rPr>
              <a:t>▸ Multi-Head Self-Attention</a:t>
            </a:r>
            <a:r>
              <a:rPr sz="1600" dirty="0">
                <a:solidFill>
                  <a:srgbClr val="E8E8F0"/>
                </a:solidFill>
                <a:latin typeface="Calibri"/>
              </a:rPr>
              <a:t> with causal mask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dirty="0">
                <a:solidFill>
                  <a:srgbClr val="A78BFA"/>
                </a:solidFill>
                <a:latin typeface="Calibri"/>
              </a:rPr>
              <a:t>▸ Feed-Forward Network</a:t>
            </a:r>
            <a:r>
              <a:rPr sz="1600" dirty="0">
                <a:solidFill>
                  <a:srgbClr val="E8E8F0"/>
                </a:solidFill>
                <a:latin typeface="Calibri"/>
              </a:rPr>
              <a:t> with GELU activation (4× </a:t>
            </a:r>
            <a:r>
              <a:rPr sz="1600" dirty="0" err="1">
                <a:solidFill>
                  <a:srgbClr val="E8E8F0"/>
                </a:solidFill>
                <a:latin typeface="Calibri"/>
              </a:rPr>
              <a:t>d_model</a:t>
            </a:r>
            <a:r>
              <a:rPr sz="1600" dirty="0">
                <a:solidFill>
                  <a:srgbClr val="E8E8F0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dirty="0">
                <a:solidFill>
                  <a:srgbClr val="A78BFA"/>
                </a:solidFill>
                <a:latin typeface="Calibri"/>
              </a:rPr>
              <a:t>▸ Layer Normalization</a:t>
            </a:r>
            <a:r>
              <a:rPr sz="1600" dirty="0">
                <a:solidFill>
                  <a:srgbClr val="E8E8F0"/>
                </a:solidFill>
                <a:latin typeface="Calibri"/>
              </a:rPr>
              <a:t> + dropout per block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dirty="0">
                <a:solidFill>
                  <a:srgbClr val="A78BFA"/>
                </a:solidFill>
                <a:latin typeface="Calibri"/>
              </a:rPr>
              <a:t>▸ Weight Tying:</a:t>
            </a:r>
            <a:r>
              <a:rPr sz="1600" dirty="0">
                <a:solidFill>
                  <a:srgbClr val="E8E8F0"/>
                </a:solidFill>
                <a:latin typeface="Calibri"/>
              </a:rPr>
              <a:t> LM head shares embedding weights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dirty="0">
                <a:solidFill>
                  <a:srgbClr val="A78BFA"/>
                </a:solidFill>
                <a:latin typeface="Calibri"/>
              </a:rPr>
              <a:t>▸ Weight Initialization:</a:t>
            </a:r>
            <a:r>
              <a:rPr sz="1600" dirty="0">
                <a:solidFill>
                  <a:srgbClr val="E8E8F0"/>
                </a:solidFill>
                <a:latin typeface="Calibri"/>
              </a:rPr>
              <a:t> N(0.0</a:t>
            </a:r>
            <a:r>
              <a:rPr lang="de-CH" sz="1600" dirty="0">
                <a:solidFill>
                  <a:srgbClr val="E8E8F0"/>
                </a:solidFill>
                <a:latin typeface="Calibri"/>
              </a:rPr>
              <a:t>1</a:t>
            </a:r>
            <a:r>
              <a:rPr sz="1600" dirty="0">
                <a:solidFill>
                  <a:srgbClr val="E8E8F0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dirty="0">
                <a:solidFill>
                  <a:srgbClr val="A78BFA"/>
                </a:solidFill>
                <a:latin typeface="Calibri"/>
              </a:rPr>
              <a:t>▸ Loss:</a:t>
            </a:r>
            <a:r>
              <a:rPr sz="1600" dirty="0">
                <a:solidFill>
                  <a:srgbClr val="E8E8F0"/>
                </a:solidFill>
                <a:latin typeface="Calibri"/>
              </a:rPr>
              <a:t> Cross-entropy on shifted labels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3931920" cy="777240"/>
          </a:xfrm>
          <a:prstGeom prst="roundRect">
            <a:avLst>
              <a:gd name="adj" fmla="val 6000"/>
            </a:avLst>
          </a:prstGeom>
          <a:solidFill>
            <a:srgbClr val="3A2E10"/>
          </a:solidFill>
          <a:ln w="9525">
            <a:solidFill>
              <a:srgbClr val="40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0" y="1417320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LM Head (Linear → Vocab)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1488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B6B8A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423160"/>
            <a:ext cx="3931920" cy="777240"/>
          </a:xfrm>
          <a:prstGeom prst="roundRect">
            <a:avLst>
              <a:gd name="adj" fmla="val 6000"/>
            </a:avLst>
          </a:prstGeom>
          <a:solidFill>
            <a:srgbClr val="123025"/>
          </a:solidFill>
          <a:ln w="9525">
            <a:solidFill>
              <a:srgbClr val="40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2468880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4D399"/>
                </a:solidFill>
                <a:latin typeface="Calibri"/>
              </a:defRPr>
            </a:pPr>
            <a:r>
              <a:t>Final LayerNorm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20040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B6B8A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474720"/>
            <a:ext cx="3931920" cy="777240"/>
          </a:xfrm>
          <a:prstGeom prst="roundRect">
            <a:avLst>
              <a:gd name="adj" fmla="val 6000"/>
            </a:avLst>
          </a:prstGeom>
          <a:solidFill>
            <a:srgbClr val="281A3A"/>
          </a:solidFill>
          <a:ln w="9525">
            <a:solidFill>
              <a:srgbClr val="40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3520440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Transformer Block × N</a:t>
            </a:r>
            <a:br/>
            <a:r>
              <a:t>Self-Attention + FFN + LayerNorm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25196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B6B8A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526279"/>
            <a:ext cx="3931920" cy="777240"/>
          </a:xfrm>
          <a:prstGeom prst="roundRect">
            <a:avLst>
              <a:gd name="adj" fmla="val 6000"/>
            </a:avLst>
          </a:prstGeom>
          <a:solidFill>
            <a:srgbClr val="1A1C38"/>
          </a:solidFill>
          <a:ln w="9525">
            <a:solidFill>
              <a:srgbClr val="40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4571999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818CF8"/>
                </a:solidFill>
                <a:latin typeface="Calibri"/>
              </a:defRPr>
            </a:pPr>
            <a:r>
              <a:t>Dropout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303519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B6B8A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5577840"/>
            <a:ext cx="3931920" cy="777240"/>
          </a:xfrm>
          <a:prstGeom prst="roundRect">
            <a:avLst>
              <a:gd name="adj" fmla="val 6000"/>
            </a:avLst>
          </a:prstGeom>
          <a:solidFill>
            <a:srgbClr val="1A1C38"/>
          </a:solidFill>
          <a:ln w="9525">
            <a:solidFill>
              <a:srgbClr val="40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5623560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818CF8"/>
                </a:solidFill>
                <a:latin typeface="Calibri"/>
              </a:defRPr>
            </a:pPr>
            <a:r>
              <a:t>Token Emb + Position Emb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62940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B6B8A"/>
                </a:solidFill>
                <a:latin typeface="Calibri"/>
              </a:defRPr>
            </a:pPr>
            <a:r>
              <a:t>Input Token IDs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B6B8A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818CF8"/>
                </a:solidFill>
                <a:latin typeface="Calibri"/>
              </a:defRPr>
            </a:pPr>
            <a:r>
              <a:t>Model Configurations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0789920" cy="457200"/>
          </a:xfrm>
          <a:prstGeom prst="roundRect">
            <a:avLst/>
          </a:prstGeom>
          <a:solidFill>
            <a:srgbClr val="1A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6916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9164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n_embd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9164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n_layer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9164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n_head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9164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6000"/>
            <a:ext cx="10789920" cy="59436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E8E8F0"/>
                </a:solidFill>
                <a:latin typeface="Calibri"/>
              </a:defRPr>
            </a:pPr>
            <a:r>
              <a:t>Default  [Test]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7744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~16M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3774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3774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774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3774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Quick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632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E8E8F0"/>
                </a:solidFill>
                <a:latin typeface="Calibri"/>
              </a:defRPr>
            </a:pPr>
            <a:r>
              <a:t>Large  [⭐ Primary]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06324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~37M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0632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384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0632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632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0632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512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0632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Depth/width balance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57600"/>
            <a:ext cx="10789920" cy="594360"/>
          </a:xfrm>
          <a:prstGeom prst="roundRect">
            <a:avLst/>
          </a:prstGeom>
          <a:solidFill>
            <a:srgbClr val="1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7490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E8E8F0"/>
                </a:solidFill>
                <a:latin typeface="Calibri"/>
              </a:defRPr>
            </a:pPr>
            <a:r>
              <a:t>Deep  [Variant]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74904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~34M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7490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320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7490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7490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7490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512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7490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Deep pattern 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4348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E8E8F0"/>
                </a:solidFill>
                <a:latin typeface="Calibri"/>
              </a:defRPr>
            </a:pPr>
            <a:r>
              <a:t>Full Context  [Variant]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43484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~33M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44348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352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4348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4348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43484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1024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4348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A5A5C0"/>
                </a:solidFill>
                <a:latin typeface="Calibri"/>
              </a:defRPr>
            </a:pPr>
            <a:r>
              <a:t>Long-range dependencies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B6B8A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818CF8"/>
                </a:solidFill>
                <a:latin typeface="Calibri"/>
              </a:defRPr>
            </a:pPr>
            <a:r>
              <a:t>Training &amp;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Training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dirty="0">
                <a:solidFill>
                  <a:srgbClr val="A78BFA"/>
                </a:solidFill>
                <a:latin typeface="Calibri"/>
              </a:rPr>
              <a:t>▸ Optimizer: </a:t>
            </a:r>
            <a:r>
              <a:rPr sz="1500" dirty="0" err="1">
                <a:solidFill>
                  <a:srgbClr val="E8E8F0"/>
                </a:solidFill>
                <a:latin typeface="Calibri"/>
              </a:rPr>
              <a:t>AdamW</a:t>
            </a:r>
            <a:r>
              <a:rPr sz="1500" dirty="0">
                <a:solidFill>
                  <a:srgbClr val="E8E8F0"/>
                </a:solidFill>
                <a:latin typeface="Calibri"/>
              </a:rPr>
              <a:t> (</a:t>
            </a:r>
            <a:r>
              <a:rPr sz="1500" dirty="0" err="1">
                <a:solidFill>
                  <a:srgbClr val="E8E8F0"/>
                </a:solidFill>
                <a:latin typeface="Calibri"/>
              </a:rPr>
              <a:t>lr</a:t>
            </a:r>
            <a:r>
              <a:rPr sz="1500" dirty="0">
                <a:solidFill>
                  <a:srgbClr val="E8E8F0"/>
                </a:solidFill>
                <a:latin typeface="Calibri"/>
              </a:rPr>
              <a:t>=3e-4, </a:t>
            </a:r>
            <a:r>
              <a:rPr sz="1500" dirty="0" err="1">
                <a:solidFill>
                  <a:srgbClr val="E8E8F0"/>
                </a:solidFill>
                <a:latin typeface="Calibri"/>
              </a:rPr>
              <a:t>weight_decay</a:t>
            </a:r>
            <a:r>
              <a:rPr sz="1500" dirty="0">
                <a:solidFill>
                  <a:srgbClr val="E8E8F0"/>
                </a:solidFill>
                <a:latin typeface="Calibri"/>
              </a:rPr>
              <a:t>=0.01)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dirty="0">
                <a:solidFill>
                  <a:srgbClr val="A78BFA"/>
                </a:solidFill>
                <a:latin typeface="Calibri"/>
              </a:rPr>
              <a:t>▸ LR Schedule: </a:t>
            </a:r>
            <a:r>
              <a:rPr sz="1500" dirty="0">
                <a:solidFill>
                  <a:srgbClr val="E8E8F0"/>
                </a:solidFill>
                <a:latin typeface="Calibri"/>
              </a:rPr>
              <a:t>Cosine decay with linear warmup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dirty="0">
                <a:solidFill>
                  <a:srgbClr val="A78BFA"/>
                </a:solidFill>
                <a:latin typeface="Calibri"/>
              </a:rPr>
              <a:t>▸ Warmup: </a:t>
            </a:r>
            <a:r>
              <a:rPr sz="1500" dirty="0">
                <a:solidFill>
                  <a:srgbClr val="E8E8F0"/>
                </a:solidFill>
                <a:latin typeface="Calibri"/>
              </a:rPr>
              <a:t>500 steps linear increase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dirty="0">
                <a:solidFill>
                  <a:srgbClr val="A78BFA"/>
                </a:solidFill>
                <a:latin typeface="Calibri"/>
              </a:rPr>
              <a:t>▸ Gradient Clipping: </a:t>
            </a:r>
            <a:r>
              <a:rPr sz="1500" dirty="0">
                <a:solidFill>
                  <a:srgbClr val="E8E8F0"/>
                </a:solidFill>
                <a:latin typeface="Calibri"/>
              </a:rPr>
              <a:t>Max norm 1.0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dirty="0">
                <a:solidFill>
                  <a:srgbClr val="A78BFA"/>
                </a:solidFill>
                <a:latin typeface="Calibri"/>
              </a:rPr>
              <a:t>▸ Gradient Accumulation: </a:t>
            </a:r>
            <a:r>
              <a:rPr sz="1500" dirty="0">
                <a:solidFill>
                  <a:srgbClr val="E8E8F0"/>
                </a:solidFill>
                <a:latin typeface="Calibri"/>
              </a:rPr>
              <a:t>2</a:t>
            </a:r>
            <a:r>
              <a:rPr lang="de-CH" sz="1500" dirty="0">
                <a:solidFill>
                  <a:srgbClr val="E8E8F0"/>
                </a:solidFill>
                <a:latin typeface="Calibri"/>
              </a:rPr>
              <a:t>–4</a:t>
            </a:r>
            <a:r>
              <a:rPr sz="1500" dirty="0">
                <a:solidFill>
                  <a:srgbClr val="E8E8F0"/>
                </a:solidFill>
                <a:latin typeface="Calibri"/>
              </a:rPr>
              <a:t> steps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dirty="0">
                <a:solidFill>
                  <a:srgbClr val="A78BFA"/>
                </a:solidFill>
                <a:latin typeface="Calibri"/>
              </a:rPr>
              <a:t>▸ Batch Size: </a:t>
            </a:r>
            <a:r>
              <a:rPr sz="1500" dirty="0">
                <a:solidFill>
                  <a:srgbClr val="E8E8F0"/>
                </a:solidFill>
                <a:latin typeface="Calibri"/>
              </a:rPr>
              <a:t>8–16 (effective up to 64)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dirty="0">
                <a:solidFill>
                  <a:srgbClr val="A78BFA"/>
                </a:solidFill>
                <a:latin typeface="Calibri"/>
              </a:rPr>
              <a:t>▸ Max Steps: </a:t>
            </a:r>
            <a:r>
              <a:rPr sz="1500" dirty="0">
                <a:solidFill>
                  <a:srgbClr val="E8E8F0"/>
                </a:solidFill>
                <a:latin typeface="Calibri"/>
              </a:rPr>
              <a:t>50,000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dirty="0">
                <a:solidFill>
                  <a:srgbClr val="A78BFA"/>
                </a:solidFill>
                <a:latin typeface="Calibri"/>
              </a:rPr>
              <a:t>▸ </a:t>
            </a:r>
            <a:r>
              <a:rPr sz="1500" b="1" dirty="0" err="1">
                <a:solidFill>
                  <a:srgbClr val="A78BFA"/>
                </a:solidFill>
                <a:latin typeface="Calibri"/>
              </a:rPr>
              <a:t>torch.compile</a:t>
            </a:r>
            <a:r>
              <a:rPr sz="1500" b="1" dirty="0">
                <a:solidFill>
                  <a:srgbClr val="A78BFA"/>
                </a:solidFill>
                <a:latin typeface="Calibri"/>
              </a:rPr>
              <a:t>: </a:t>
            </a:r>
            <a:r>
              <a:rPr sz="1500" dirty="0">
                <a:solidFill>
                  <a:srgbClr val="E8E8F0"/>
                </a:solidFill>
                <a:latin typeface="Calibri"/>
              </a:rPr>
              <a:t>Enabled for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28600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Distributed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DDP: </a:t>
            </a:r>
            <a:r>
              <a:rPr sz="1500">
                <a:solidFill>
                  <a:srgbClr val="E8E8F0"/>
                </a:solidFill>
                <a:latin typeface="Calibri"/>
              </a:rPr>
              <a:t>PyTorch DistributedDataParallel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Multi-GPU: </a:t>
            </a:r>
            <a:r>
              <a:rPr sz="1500">
                <a:solidFill>
                  <a:srgbClr val="E8E8F0"/>
                </a:solidFill>
                <a:latin typeface="Calibri"/>
              </a:rPr>
              <a:t>Scales across multiple GPUs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Checkpointing: </a:t>
            </a:r>
            <a:r>
              <a:rPr sz="1500">
                <a:solidFill>
                  <a:srgbClr val="E8E8F0"/>
                </a:solidFill>
                <a:latin typeface="Calibri"/>
              </a:rPr>
              <a:t>Save every 500 steps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Resume: </a:t>
            </a:r>
            <a:r>
              <a:rPr sz="1500">
                <a:solidFill>
                  <a:srgbClr val="E8E8F0"/>
                </a:solidFill>
                <a:latin typeface="Calibri"/>
              </a:rPr>
              <a:t>Continue training from checkpoint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12080" cy="219456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JSONL metrics</a:t>
            </a:r>
            <a:r>
              <a:rPr sz="1500">
                <a:solidFill>
                  <a:srgbClr val="E8E8F0"/>
                </a:solidFill>
                <a:latin typeface="Calibri"/>
              </a:rPr>
              <a:t> (train + eval per step)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Gradient norm</a:t>
            </a:r>
            <a:r>
              <a:rPr sz="1500">
                <a:solidFill>
                  <a:srgbClr val="E8E8F0"/>
                </a:solidFill>
                <a:latin typeface="Calibri"/>
              </a:rPr>
              <a:t> monitoring &amp; health checks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Perplexity</a:t>
            </a:r>
            <a:r>
              <a:rPr sz="1500">
                <a:solidFill>
                  <a:srgbClr val="E8E8F0"/>
                </a:solidFill>
                <a:latin typeface="Calibri"/>
              </a:rPr>
              <a:t> tracking across epochs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B6B8A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818CF8"/>
                </a:solidFill>
                <a:latin typeface="Calibri"/>
              </a:defRPr>
            </a:pPr>
            <a:r>
              <a:t>Hyperparameter Tuning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5017008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Optuna-based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dirty="0">
                <a:solidFill>
                  <a:srgbClr val="A78BFA"/>
                </a:solidFill>
                <a:latin typeface="Calibri"/>
              </a:rPr>
              <a:t>▸ Framework: </a:t>
            </a:r>
            <a:r>
              <a:rPr sz="1500" dirty="0" err="1">
                <a:solidFill>
                  <a:srgbClr val="E8E8F0"/>
                </a:solidFill>
                <a:latin typeface="Calibri"/>
              </a:rPr>
              <a:t>Optuna</a:t>
            </a:r>
            <a:r>
              <a:rPr sz="1500" dirty="0">
                <a:solidFill>
                  <a:srgbClr val="E8E8F0"/>
                </a:solidFill>
                <a:latin typeface="Calibri"/>
              </a:rPr>
              <a:t> with SQLite storage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dirty="0">
                <a:solidFill>
                  <a:srgbClr val="A78BFA"/>
                </a:solidFill>
                <a:latin typeface="Calibri"/>
              </a:rPr>
              <a:t>▸ Dashboard: </a:t>
            </a:r>
            <a:r>
              <a:rPr sz="1500" dirty="0" err="1">
                <a:solidFill>
                  <a:srgbClr val="E8E8F0"/>
                </a:solidFill>
                <a:latin typeface="Calibri"/>
              </a:rPr>
              <a:t>Optuna</a:t>
            </a:r>
            <a:r>
              <a:rPr sz="1500" dirty="0">
                <a:solidFill>
                  <a:srgbClr val="E8E8F0"/>
                </a:solidFill>
                <a:latin typeface="Calibri"/>
              </a:rPr>
              <a:t> Dashboard for visualization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dirty="0">
                <a:solidFill>
                  <a:srgbClr val="A78BFA"/>
                </a:solidFill>
                <a:latin typeface="Calibri"/>
              </a:rPr>
              <a:t>▸ Budget: </a:t>
            </a:r>
            <a:r>
              <a:rPr sz="1500" dirty="0">
                <a:solidFill>
                  <a:srgbClr val="E8E8F0"/>
                </a:solidFill>
                <a:latin typeface="Calibri"/>
              </a:rPr>
              <a:t>Max </a:t>
            </a:r>
            <a:r>
              <a:rPr lang="de-CH" sz="1500" dirty="0">
                <a:solidFill>
                  <a:srgbClr val="E8E8F0"/>
                </a:solidFill>
                <a:latin typeface="Calibri"/>
              </a:rPr>
              <a:t>37</a:t>
            </a:r>
            <a:r>
              <a:rPr sz="1500" dirty="0">
                <a:solidFill>
                  <a:srgbClr val="E8E8F0"/>
                </a:solidFill>
                <a:latin typeface="Calibri"/>
              </a:rPr>
              <a:t>M parameter limit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 dirty="0">
                <a:solidFill>
                  <a:srgbClr val="A78BFA"/>
                </a:solidFill>
                <a:latin typeface="Calibri"/>
              </a:rPr>
              <a:t>▸ Fast evaluation: </a:t>
            </a:r>
            <a:r>
              <a:rPr sz="1500" dirty="0">
                <a:solidFill>
                  <a:srgbClr val="E8E8F0"/>
                </a:solidFill>
                <a:latin typeface="Calibri"/>
              </a:rPr>
              <a:t>500 steps per 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Tuned Hyperparameters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E8E8F0"/>
                </a:solidFill>
                <a:latin typeface="Calibri"/>
              </a:defRPr>
            </a:pPr>
            <a:r>
              <a:t>Learning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206240"/>
            <a:ext cx="2286000" cy="2743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78BFA"/>
                </a:solidFill>
                <a:latin typeface="Calibri"/>
              </a:defRPr>
            </a:pPr>
            <a:r>
              <a:rPr lang="de-CH" dirty="0"/>
              <a:t>3e-4 (min </a:t>
            </a:r>
            <a:r>
              <a:rPr lang="de-CH" dirty="0" err="1"/>
              <a:t>learning</a:t>
            </a:r>
            <a:r>
              <a:rPr lang="de-CH" dirty="0"/>
              <a:t> rate = 1e-5)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88720" y="4480559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E8E8F0"/>
                </a:solidFill>
                <a:latin typeface="Calibri"/>
              </a:defRPr>
            </a:pPr>
            <a:r>
              <a:t>Batch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480559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78BFA"/>
                </a:solidFill>
                <a:latin typeface="Calibri"/>
              </a:defRPr>
            </a:pPr>
            <a:r>
              <a:rPr lang="de-CH" dirty="0"/>
              <a:t>16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E8E8F0"/>
                </a:solidFill>
                <a:latin typeface="Calibri"/>
              </a:defRPr>
            </a:pPr>
            <a:r>
              <a:t>n_layer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754879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78BFA"/>
                </a:solidFill>
                <a:latin typeface="Calibri"/>
              </a:defRPr>
            </a:pPr>
            <a:r>
              <a:rPr lang="de-CH" dirty="0"/>
              <a:t>10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E8E8F0"/>
                </a:solidFill>
                <a:latin typeface="Calibri"/>
              </a:defRPr>
            </a:pPr>
            <a:r>
              <a:t>n_head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0292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78BFA"/>
                </a:solidFill>
                <a:latin typeface="Calibri"/>
              </a:defRPr>
            </a:pPr>
            <a:r>
              <a:rPr lang="de-CH" dirty="0"/>
              <a:t>6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188720" y="5303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E8E8F0"/>
                </a:solidFill>
                <a:latin typeface="Calibri"/>
              </a:defRPr>
            </a:pPr>
            <a:r>
              <a:t>n_embd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303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78BFA"/>
                </a:solidFill>
                <a:latin typeface="Calibri"/>
              </a:defRPr>
            </a:pPr>
            <a:r>
              <a:rPr dirty="0"/>
              <a:t>384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77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E8E8F0"/>
                </a:solidFill>
                <a:latin typeface="Calibri"/>
              </a:defRPr>
            </a:pPr>
            <a:r>
              <a:t>Dropout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5778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78BFA"/>
                </a:solidFill>
                <a:latin typeface="Calibri"/>
              </a:defRPr>
            </a:pPr>
            <a:r>
              <a:rPr lang="de-CH" dirty="0"/>
              <a:t>0.1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59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E8E8F0"/>
                </a:solidFill>
                <a:latin typeface="Calibri"/>
              </a:defRPr>
            </a:pPr>
            <a:r>
              <a:t>Warmup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852159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78BFA"/>
                </a:solidFill>
                <a:latin typeface="Calibri"/>
              </a:defRPr>
            </a:pPr>
            <a:r>
              <a:rPr lang="de-CH" dirty="0"/>
              <a:t>500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188720" y="6126479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E8E8F0"/>
                </a:solidFill>
                <a:latin typeface="Calibri"/>
              </a:defRPr>
            </a:pPr>
            <a:r>
              <a:t>Weight Decay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6126479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78BFA"/>
                </a:solidFill>
                <a:latin typeface="Calibri"/>
              </a:defRPr>
            </a:pPr>
            <a:r>
              <a:rPr lang="de-CH" dirty="0"/>
              <a:t>0.01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Usage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286000"/>
            <a:ext cx="4663440" cy="1828800"/>
          </a:xfrm>
          <a:prstGeom prst="roundRect">
            <a:avLst>
              <a:gd name="adj" fmla="val 3000"/>
            </a:avLst>
          </a:prstGeom>
          <a:solidFill>
            <a:srgbClr val="0A0A18"/>
          </a:solidFill>
          <a:ln w="9525">
            <a:solidFill>
              <a:srgbClr val="252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2377440"/>
            <a:ext cx="43891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4D399"/>
                </a:solidFill>
                <a:latin typeface="Consolas"/>
              </a:defRPr>
            </a:pPr>
            <a:r>
              <a:t># Start hyperparameter search</a:t>
            </a:r>
            <a:br/>
            <a:r>
              <a:t>python -m src.tuning.optuna_search \</a:t>
            </a:r>
            <a:br/>
            <a:r>
              <a:t>  --n-trials 20</a:t>
            </a:r>
            <a:br/>
            <a:br/>
            <a:r>
              <a:t># Open dashboard</a:t>
            </a:r>
            <a:br/>
            <a:r>
              <a:t>optuna-dashboard \</a:t>
            </a:r>
            <a:br/>
            <a:r>
              <a:t>  sqlite:///optuna_pikogpt.db \</a:t>
            </a:r>
            <a:br/>
            <a:r>
              <a:t>  --host 127.0.0.1 --port 8080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389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Fixed Parameters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46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Vocab Size: </a:t>
            </a:r>
            <a:r>
              <a:rPr sz="1500">
                <a:solidFill>
                  <a:srgbClr val="E8E8F0"/>
                </a:solidFill>
                <a:latin typeface="Calibri"/>
              </a:rPr>
              <a:t>50,257 (GPT-2 Tokenizer)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Context Length: </a:t>
            </a:r>
            <a:r>
              <a:rPr sz="1500">
                <a:solidFill>
                  <a:srgbClr val="E8E8F0"/>
                </a:solidFill>
                <a:latin typeface="Calibri"/>
              </a:rPr>
              <a:t>256–512 tokens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Activation: </a:t>
            </a:r>
            <a:r>
              <a:rPr sz="1500">
                <a:solidFill>
                  <a:srgbClr val="E8E8F0"/>
                </a:solidFill>
                <a:latin typeface="Calibri"/>
              </a:rPr>
              <a:t>GELU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Optimizer: </a:t>
            </a:r>
            <a:r>
              <a:rPr sz="1500">
                <a:solidFill>
                  <a:srgbClr val="E8E8F0"/>
                </a:solidFill>
                <a:latin typeface="Calibri"/>
              </a:rPr>
              <a:t>AdamW (always)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B6B8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818CF8"/>
                </a:solidFill>
                <a:latin typeface="Calibri"/>
              </a:defRPr>
            </a:pPr>
            <a:r>
              <a:t>Inference &amp; Text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Generation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A78BFA"/>
                </a:solidFill>
                <a:latin typeface="Calibri"/>
              </a:rPr>
              <a:t>▸ Autoregressive decoding</a:t>
            </a:r>
            <a:r>
              <a:rPr sz="1600">
                <a:solidFill>
                  <a:srgbClr val="E8E8F0"/>
                </a:solidFill>
                <a:latin typeface="Calibri"/>
              </a:rPr>
              <a:t> — token by token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A78BFA"/>
                </a:solidFill>
                <a:latin typeface="Calibri"/>
              </a:rPr>
              <a:t>▸ Greedy decoding</a:t>
            </a:r>
            <a:r>
              <a:rPr sz="1600">
                <a:solidFill>
                  <a:srgbClr val="E8E8F0"/>
                </a:solidFill>
                <a:latin typeface="Calibri"/>
              </a:rPr>
              <a:t> (temperature = 0)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A78BFA"/>
                </a:solidFill>
                <a:latin typeface="Calibri"/>
              </a:rPr>
              <a:t>▸ Sampling</a:t>
            </a:r>
            <a:r>
              <a:rPr sz="1600">
                <a:solidFill>
                  <a:srgbClr val="E8E8F0"/>
                </a:solidFill>
                <a:latin typeface="Calibri"/>
              </a:rPr>
              <a:t> with adjustable temperature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A78BFA"/>
                </a:solidFill>
                <a:latin typeface="Calibri"/>
              </a:rPr>
              <a:t>▸ Sliding window</a:t>
            </a:r>
            <a:r>
              <a:rPr sz="1600">
                <a:solidFill>
                  <a:srgbClr val="E8E8F0"/>
                </a:solidFill>
                <a:latin typeface="Calibri"/>
              </a:rPr>
              <a:t> for texts beyond context length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A78BFA"/>
                </a:solidFill>
                <a:latin typeface="Calibri"/>
              </a:rPr>
              <a:t>▸ Leaderboard mode</a:t>
            </a:r>
            <a:r>
              <a:rPr sz="1600">
                <a:solidFill>
                  <a:srgbClr val="E8E8F0"/>
                </a:solidFill>
                <a:latin typeface="Calibri"/>
              </a:rPr>
              <a:t> for automated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Usage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5029200" cy="1645920"/>
          </a:xfrm>
          <a:prstGeom prst="roundRect">
            <a:avLst>
              <a:gd name="adj" fmla="val 3000"/>
            </a:avLst>
          </a:prstGeom>
          <a:solidFill>
            <a:srgbClr val="0A0A18"/>
          </a:solidFill>
          <a:ln w="9525">
            <a:solidFill>
              <a:srgbClr val="252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4754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4D399"/>
                </a:solidFill>
                <a:latin typeface="Consolas"/>
              </a:defRPr>
            </a:pPr>
            <a:r>
              <a:t>python main.py \</a:t>
            </a:r>
            <a:br/>
            <a:r>
              <a:t>  --stage inference \</a:t>
            </a:r>
            <a:br/>
            <a:r>
              <a:t>  --checkpoint model_final.pt \</a:t>
            </a:r>
            <a:br/>
            <a:r>
              <a:t>  --prompt "The future of AI is" \</a:t>
            </a:r>
            <a:br/>
            <a:r>
              <a:t>  --max-tokens 100 \</a:t>
            </a:r>
            <a:br/>
            <a:r>
              <a:t>  --temperature 0.8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29200" cy="210312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Checkpoint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state_dict</a:t>
            </a:r>
            <a:r>
              <a:rPr sz="1500">
                <a:solidFill>
                  <a:srgbClr val="E8E8F0"/>
                </a:solidFill>
                <a:latin typeface="Calibri"/>
              </a:rPr>
              <a:t> — model weights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model</a:t>
            </a:r>
            <a:r>
              <a:rPr sz="1500">
                <a:solidFill>
                  <a:srgbClr val="E8E8F0"/>
                </a:solidFill>
                <a:latin typeface="Calibri"/>
              </a:rPr>
              <a:t> — architecture metadata (n_embd, n_layer, ...)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tokenizer</a:t>
            </a:r>
            <a:r>
              <a:rPr sz="1500">
                <a:solidFill>
                  <a:srgbClr val="E8E8F0"/>
                </a:solidFill>
                <a:latin typeface="Calibri"/>
              </a:rPr>
              <a:t> — tokenizer name &amp; configuration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▸ training_state</a:t>
            </a:r>
            <a:r>
              <a:rPr sz="1500">
                <a:solidFill>
                  <a:srgbClr val="E8E8F0"/>
                </a:solidFill>
                <a:latin typeface="Calibri"/>
              </a:rPr>
              <a:t> — optimizer, scheduler, step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40480"/>
            <a:ext cx="5029200" cy="246888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4023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Device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57200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CUDA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572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5A5C0"/>
                </a:solidFill>
                <a:latin typeface="Calibri"/>
              </a:defRPr>
            </a:pPr>
            <a:r>
              <a:t>NVIDIA GPUs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9377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9377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5A5C0"/>
                </a:solidFill>
                <a:latin typeface="Calibri"/>
              </a:defRPr>
            </a:pPr>
            <a:r>
              <a:t>Apple Silicon (M1/M2/M3/M4)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303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CPU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3035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5A5C0"/>
                </a:solidFill>
                <a:latin typeface="Calibri"/>
              </a:defRPr>
            </a:pPr>
            <a:r>
              <a:t>Fallback for all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66928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6692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5A5C0"/>
                </a:solidFill>
                <a:latin typeface="Calibri"/>
              </a:defRPr>
            </a:pPr>
            <a:r>
              <a:t>Automatic device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B6B8A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818CF8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Calibri"/>
              </a:rPr>
              <a:t>▸ PyTorch</a:t>
            </a:r>
            <a:r>
              <a:rPr sz="1400">
                <a:solidFill>
                  <a:srgbClr val="A5A5C0"/>
                </a:solidFill>
                <a:latin typeface="Calibri"/>
              </a:rPr>
              <a:t> — model &amp; training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Calibri"/>
              </a:rPr>
              <a:t>▸ torch.compile</a:t>
            </a:r>
            <a:r>
              <a:rPr sz="1400">
                <a:solidFill>
                  <a:srgbClr val="A5A5C0"/>
                </a:solidFill>
                <a:latin typeface="Calibri"/>
              </a:rPr>
              <a:t> — compilation optimization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Calibri"/>
              </a:rPr>
              <a:t>▸ DDP</a:t>
            </a:r>
            <a:r>
              <a:rPr sz="1400">
                <a:solidFill>
                  <a:srgbClr val="A5A5C0"/>
                </a:solidFill>
                <a:latin typeface="Calibri"/>
              </a:rPr>
              <a:t> — distributed training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Calibri"/>
              </a:rPr>
              <a:t>▸ Transformers</a:t>
            </a:r>
            <a:r>
              <a:rPr sz="1400">
                <a:solidFill>
                  <a:srgbClr val="A5A5C0"/>
                </a:solidFill>
                <a:latin typeface="Calibri"/>
              </a:rPr>
              <a:t> — GPT-2 tokenizer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46304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1999" y="16459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Data &amp;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194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Calibri"/>
              </a:rPr>
              <a:t>▸ HuggingFace Datasets</a:t>
            </a:r>
            <a:r>
              <a:rPr sz="1400">
                <a:solidFill>
                  <a:srgbClr val="A5A5C0"/>
                </a:solidFill>
                <a:latin typeface="Calibri"/>
              </a:rPr>
              <a:t> — data handling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Calibri"/>
              </a:rPr>
              <a:t>▸ langdetect</a:t>
            </a:r>
            <a:r>
              <a:rPr sz="1400">
                <a:solidFill>
                  <a:srgbClr val="A5A5C0"/>
                </a:solidFill>
                <a:latin typeface="Calibri"/>
              </a:rPr>
              <a:t> — language detection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Calibri"/>
              </a:rPr>
              <a:t>▸ Pandas</a:t>
            </a:r>
            <a:r>
              <a:rPr sz="1400">
                <a:solidFill>
                  <a:srgbClr val="A5A5C0"/>
                </a:solidFill>
                <a:latin typeface="Calibri"/>
              </a:rPr>
              <a:t> — data analysis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Calibri"/>
              </a:rPr>
              <a:t>▸ Matplotlib</a:t>
            </a:r>
            <a:r>
              <a:rPr sz="1400">
                <a:solidFill>
                  <a:srgbClr val="A5A5C0"/>
                </a:solidFill>
                <a:latin typeface="Calibri"/>
              </a:rPr>
              <a:t> — visualization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46304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39" y="16459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9" y="2194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Calibri"/>
              </a:rPr>
              <a:t>▸ Pydantic v2</a:t>
            </a:r>
            <a:r>
              <a:rPr sz="1400">
                <a:solidFill>
                  <a:srgbClr val="A5A5C0"/>
                </a:solidFill>
                <a:latin typeface="Calibri"/>
              </a:rPr>
              <a:t> — config validation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Calibri"/>
              </a:rPr>
              <a:t>▸ Optuna</a:t>
            </a:r>
            <a:r>
              <a:rPr sz="1400">
                <a:solidFill>
                  <a:srgbClr val="A5A5C0"/>
                </a:solidFill>
                <a:latin typeface="Calibri"/>
              </a:rPr>
              <a:t> — hyperparameter tuning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Calibri"/>
              </a:rPr>
              <a:t>▸ TOML / YAML</a:t>
            </a:r>
            <a:r>
              <a:rPr sz="1400">
                <a:solidFill>
                  <a:srgbClr val="A5A5C0"/>
                </a:solidFill>
                <a:latin typeface="Calibri"/>
              </a:rPr>
              <a:t> — config files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Calibri"/>
              </a:rPr>
              <a:t>▸ uv</a:t>
            </a:r>
            <a:r>
              <a:rPr sz="1400">
                <a:solidFill>
                  <a:srgbClr val="A5A5C0"/>
                </a:solidFill>
                <a:latin typeface="Calibri"/>
              </a:rPr>
              <a:t> — fast package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515600" cy="1463040"/>
          </a:xfrm>
          <a:prstGeom prst="roundRect">
            <a:avLst>
              <a:gd name="adj" fmla="val 2000"/>
            </a:avLst>
          </a:prstGeom>
          <a:solidFill>
            <a:srgbClr val="0A0A18"/>
          </a:solidFill>
          <a:ln w="9525">
            <a:solidFill>
              <a:srgbClr val="252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4D399"/>
                </a:solidFill>
                <a:latin typeface="Consolas"/>
              </a:defRPr>
            </a:pPr>
            <a:r>
              <a:t>nlp-pikogpt-funkyai/</a:t>
            </a:r>
            <a:br/>
            <a:r>
              <a:t>├── src/data/preprocessing.py      # Data pipeline</a:t>
            </a:r>
            <a:br/>
            <a:r>
              <a:t>├── src/training/{config,stage,utils}.py  # Training + model</a:t>
            </a:r>
            <a:br/>
            <a:r>
              <a:t>├── src/inference/stage.py         # Text generation</a:t>
            </a:r>
            <a:br/>
            <a:r>
              <a:t>├── src/tuning/optuna_search.py    # HP search</a:t>
            </a:r>
            <a:br/>
            <a:r>
              <a:t>├── configs/train_*.toml           # 4 configurations</a:t>
            </a:r>
            <a:br/>
            <a:r>
              <a:t>└── main.py                        # CLI entry point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B6B8A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818CF8"/>
                </a:solidFill>
                <a:latin typeface="Calibri"/>
              </a:defRPr>
            </a:pPr>
            <a:r>
              <a:t>Summary &amp; Outlook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4846320" cy="438912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✅ 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Complete data pipeline with leakage protection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Decoder-only transformer built from scratch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4 model configurations (16M–37M parameters)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Distributed training with DDP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Cosine LR scheduling with warmup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Checkpoint system &amp; resume support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Inference pipeline with sampling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Optuna hyperparameter tuning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4846320" cy="4389120"/>
          </a:xfrm>
          <a:prstGeom prst="roundRect">
            <a:avLst>
              <a:gd name="adj" fmla="val 3000"/>
            </a:avLst>
          </a:prstGeom>
          <a:solidFill>
            <a:srgbClr val="1C1C30"/>
          </a:solidFill>
          <a:ln w="9525">
            <a:solidFill>
              <a:srgbClr val="30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🔮 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Full-scale GPU training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Benchmark evaluation (LAMBADA, HellaSwag)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Leaderboard submissions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Chat interface (Gradio / Streamlit)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Fine-tuning experiments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Ablation studies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A5A5C0"/>
                </a:solidFill>
                <a:latin typeface="Calibri"/>
              </a:rPr>
              <a:t>▸ Final report &amp; poster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612648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1C1C30"/>
          </a:solidFill>
          <a:ln w="12700">
            <a:solidFill>
              <a:srgbClr val="404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6144768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818CF8"/>
                </a:solidFill>
                <a:latin typeface="Calibri"/>
              </a:defRPr>
            </a:pPr>
            <a:r>
              <a:t>Thank You!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1113</Words>
  <Application>Microsoft Macintosh PowerPoint</Application>
  <PresentationFormat>Breitbild</PresentationFormat>
  <Paragraphs>230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Rechsteiner, Filipp</cp:lastModifiedBy>
  <cp:revision>1</cp:revision>
  <dcterms:created xsi:type="dcterms:W3CDTF">2013-01-27T09:14:16Z</dcterms:created>
  <dcterms:modified xsi:type="dcterms:W3CDTF">2026-04-12T19:19:10Z</dcterms:modified>
  <cp:category/>
</cp:coreProperties>
</file>